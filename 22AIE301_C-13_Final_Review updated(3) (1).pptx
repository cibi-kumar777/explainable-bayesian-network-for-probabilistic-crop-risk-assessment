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24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37160" cy="5303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332720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rPr dirty="0"/>
              <a:t>22AIE301 PROBABILISTIC REASONING — FINAL PROJECT REVIEW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rPr sz="2400" dirty="0"/>
              <a:t>[</a:t>
            </a:r>
            <a:r>
              <a:rPr lang="en-US" sz="2400" dirty="0"/>
              <a:t>Explainable Bayesian Network for Probabilistic Crop Risk Assessment Under Environmental Uncertainty</a:t>
            </a:r>
            <a:r>
              <a:rPr sz="2400" dirty="0"/>
              <a:t>]</a:t>
            </a:r>
          </a:p>
          <a:p>
            <a:pPr>
              <a:spcAft>
                <a:spcPts val="2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rPr dirty="0"/>
              <a:t>Track Declaration (Check One):   [  ] Track I: Industry Product &amp; Verification   |   [  ] Track II: Journal/Conference Paper (Q2/Scopus)</a:t>
            </a:r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rPr dirty="0"/>
              <a:t>Gro</a:t>
            </a:r>
            <a:r>
              <a:rPr lang="en-US" dirty="0"/>
              <a:t>up Details</a:t>
            </a:r>
            <a:r>
              <a:rPr dirty="0"/>
              <a:t> &amp; Team Members:</a:t>
            </a:r>
            <a:endParaRPr lang="en-IN" dirty="0"/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br>
              <a:rPr dirty="0"/>
            </a:br>
            <a:r>
              <a:rPr dirty="0"/>
              <a:t>• Group No: [</a:t>
            </a:r>
            <a:r>
              <a:rPr lang="en-IN" dirty="0"/>
              <a:t>C-13</a:t>
            </a:r>
            <a:r>
              <a:rPr dirty="0"/>
              <a:t>]</a:t>
            </a:r>
            <a:br>
              <a:rPr dirty="0"/>
            </a:br>
            <a:r>
              <a:rPr dirty="0"/>
              <a:t>• Member 1: [</a:t>
            </a:r>
            <a:r>
              <a:rPr lang="en-IN" dirty="0"/>
              <a:t>Bhadresh RP</a:t>
            </a:r>
            <a:r>
              <a:rPr dirty="0"/>
              <a:t> &amp; </a:t>
            </a:r>
            <a:r>
              <a:rPr lang="en-IN" dirty="0"/>
              <a:t>CB.SC.U4AIE24208</a:t>
            </a:r>
            <a:r>
              <a:rPr dirty="0"/>
              <a:t>] (Presenter Segment: Minutes </a:t>
            </a:r>
            <a:r>
              <a:rPr lang="en-IN" dirty="0"/>
              <a:t>5</a:t>
            </a:r>
            <a:r>
              <a:rPr dirty="0"/>
              <a:t>–</a:t>
            </a:r>
            <a:r>
              <a:rPr lang="en-IN" dirty="0"/>
              <a:t>10</a:t>
            </a:r>
            <a:r>
              <a:rPr dirty="0"/>
              <a:t>)</a:t>
            </a:r>
            <a:br>
              <a:rPr dirty="0"/>
            </a:br>
            <a:r>
              <a:rPr dirty="0"/>
              <a:t>• Member 2: [</a:t>
            </a:r>
            <a:r>
              <a:rPr lang="en-IN" dirty="0"/>
              <a:t>CH. Priya </a:t>
            </a:r>
            <a:r>
              <a:rPr lang="en-IN" dirty="0" err="1"/>
              <a:t>madhav</a:t>
            </a:r>
            <a:r>
              <a:rPr dirty="0"/>
              <a:t> &amp;</a:t>
            </a:r>
            <a:r>
              <a:rPr lang="en-IN" dirty="0"/>
              <a:t> CB.SC.U4AIE24211 </a:t>
            </a:r>
            <a:r>
              <a:rPr dirty="0"/>
              <a:t>(Presenter Segment: Minutes 5–10)</a:t>
            </a:r>
            <a:br>
              <a:rPr dirty="0"/>
            </a:br>
            <a:r>
              <a:rPr dirty="0"/>
              <a:t>• Member 3: [</a:t>
            </a:r>
            <a:r>
              <a:rPr lang="en-IN" dirty="0" err="1"/>
              <a:t>B.Cibi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dirty="0"/>
              <a:t> &amp; </a:t>
            </a:r>
            <a:r>
              <a:rPr lang="en-IN" dirty="0"/>
              <a:t>CB.SC.U4AIE24212</a:t>
            </a:r>
            <a:r>
              <a:rPr dirty="0"/>
              <a:t>] (Presenter Segment: Minutes </a:t>
            </a:r>
            <a:r>
              <a:rPr lang="en-IN" dirty="0"/>
              <a:t>5</a:t>
            </a:r>
            <a:r>
              <a:rPr dirty="0"/>
              <a:t>–</a:t>
            </a:r>
            <a:r>
              <a:rPr lang="en-IN" dirty="0"/>
              <a:t>10</a:t>
            </a:r>
            <a:r>
              <a:rPr dirty="0"/>
              <a:t>)</a:t>
            </a:r>
            <a:endParaRPr lang="en-IN" dirty="0"/>
          </a:p>
          <a:p>
            <a:pPr>
              <a:defRPr sz="1300">
                <a:solidFill>
                  <a:srgbClr val="E2E8F0"/>
                </a:solidFill>
                <a:latin typeface="Arial"/>
              </a:defRPr>
            </a:pPr>
            <a:r>
              <a:rPr lang="en-US" dirty="0"/>
              <a:t>  Member 4: [</a:t>
            </a:r>
            <a:r>
              <a:rPr lang="en-US" dirty="0" err="1"/>
              <a:t>G.Rishi</a:t>
            </a:r>
            <a:r>
              <a:rPr lang="en-US" dirty="0"/>
              <a:t> </a:t>
            </a:r>
            <a:r>
              <a:rPr lang="en-US" dirty="0" err="1"/>
              <a:t>kanth</a:t>
            </a:r>
            <a:r>
              <a:rPr lang="en-US" dirty="0"/>
              <a:t> &amp; CB.SC.U4AIE24218] (Presenter Segment: Minutes 5–10)</a:t>
            </a:r>
            <a:br>
              <a:rPr lang="en-US" dirty="0"/>
            </a:br>
            <a:br>
              <a:rPr dirty="0"/>
            </a:br>
            <a:r>
              <a:rPr dirty="0"/>
              <a:t>• </a:t>
            </a:r>
            <a:r>
              <a:rPr lang="en-IN" dirty="0"/>
              <a:t>Mentor : </a:t>
            </a:r>
            <a:r>
              <a:rPr lang="en-IN" dirty="0" err="1"/>
              <a:t>Dr.Navaneeth</a:t>
            </a:r>
            <a:r>
              <a:rPr lang="en-IN" dirty="0"/>
              <a:t> </a:t>
            </a:r>
            <a:r>
              <a:rPr lang="en-IN" dirty="0" err="1"/>
              <a:t>Haridasan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1. Problem Statement, Industry/Research Scope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" y="150876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Problem Statement &amp; Context</a:t>
            </a:r>
            <a:endParaRPr lang="en-US" dirty="0"/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Environmental Uncertainty : Crop production is affected by uncertain environmental factors such as rainfall, temperature, humidity, soil moisture.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6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Uncertain Risk Prediction : Traditional crop assessment methods may not effectively represent the probabilistic relationships between environmental conditions.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br>
              <a:rPr lang="en-US" sz="1400" dirty="0"/>
            </a:br>
            <a:r>
              <a:rPr lang="en-US" sz="1400" dirty="0"/>
              <a:t>• Project Scope: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To develop an explainable Bayesian Network that predicts crop risks under uncertain environmental conditions and supports farmers in making informed agricultural decisions.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095847" y="150876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Core Project Objectives (3–4 Enumerated)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Objective</a:t>
            </a:r>
            <a:r>
              <a:rPr lang="en-IN" sz="1400" dirty="0"/>
              <a:t> </a:t>
            </a:r>
            <a:r>
              <a:rPr sz="1400" dirty="0"/>
              <a:t>1(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Develop a Bayesian Network</a:t>
            </a:r>
            <a:r>
              <a:rPr lang="en-IN" sz="1400" dirty="0"/>
              <a:t>) :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Build a probabilistic Bayesian Network that models the relationships between environmental variables and crop risk factors.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Objective 2 (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Estimate Crop Risk Probabilities</a:t>
            </a:r>
            <a:r>
              <a:rPr sz="1400" dirty="0"/>
              <a:t>):</a:t>
            </a:r>
            <a:endParaRPr lang="en-IN" sz="1400" dirty="0"/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IN" sz="1400" dirty="0"/>
              <a:t>  </a:t>
            </a:r>
            <a:r>
              <a:rPr lang="en-US" sz="1400" dirty="0"/>
              <a:t>Estimate posterior probabilities for the 22 crop        classes under different environmental conditions using Bayesian inference.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Objective 3 (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Provide Explainable Predictions</a:t>
            </a:r>
            <a:r>
              <a:rPr sz="1400" dirty="0"/>
              <a:t>):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Identify and explain the environmental factors that contribute most to the predicted crop risk using probabilistic reasoning and conditional dependencies.</a:t>
            </a:r>
            <a:br>
              <a:rPr sz="1400" dirty="0"/>
            </a:br>
            <a:br>
              <a:rPr lang="en-US" sz="1400" dirty="0"/>
            </a:br>
            <a:r>
              <a:rPr lang="en-US" sz="1400" dirty="0"/>
              <a:t>• </a:t>
            </a:r>
            <a:r>
              <a:rPr sz="1400" dirty="0"/>
              <a:t>Objective 4 (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Support Agricultural Decision-Making</a:t>
            </a:r>
            <a:r>
              <a:rPr sz="1400" dirty="0"/>
              <a:t>):</a:t>
            </a:r>
            <a:r>
              <a:rPr lang="en-IN" sz="1400" dirty="0"/>
              <a:t>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farmers choose appropriate preventive measures and improve crop management under </a:t>
            </a:r>
            <a:r>
              <a:rPr lang="en-US" sz="1400" dirty="0" err="1">
                <a:solidFill>
                  <a:srgbClr val="2C3E50"/>
                </a:solidFill>
                <a:latin typeface="Arial"/>
              </a:rPr>
              <a:t>uncertainity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.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2. Probabilistic Model Formulation (PGM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PGM Graph Structure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lang="en-US" sz="1400" dirty="0"/>
              <a:t>Selected PGM Framework:</a:t>
            </a:r>
            <a:br>
              <a:rPr lang="en-US" sz="1400" dirty="0"/>
            </a:br>
            <a:r>
              <a:rPr lang="en-US" sz="1400" dirty="0"/>
              <a:t>  Bayesian Network (DAG)</a:t>
            </a:r>
            <a:br>
              <a:rPr lang="en-US" sz="1400" dirty="0"/>
            </a:br>
            <a:r>
              <a:rPr lang="en-US" sz="1400" dirty="0"/>
              <a:t>• Continuous features are       discretized into Low, Medium and High states.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endParaRPr lang="en-IN" sz="1400" dirty="0"/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lang="en-US" sz="1400" dirty="0"/>
              <a:t>Structure learning: Hill Climbing with </a:t>
            </a:r>
            <a:r>
              <a:rPr lang="en-US" sz="1400" dirty="0" err="1"/>
              <a:t>BDeu</a:t>
            </a:r>
            <a:r>
              <a:rPr lang="en-US" sz="1400" dirty="0"/>
              <a:t> scoring and a constraint preventing edges from the crop label to environmental features.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Input variables : Nitrogen, phosphorus, potassium, temperature, humidity, soil pH and rainfall.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Target variable: Crop label with 22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Joint Probability Factorization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sz="1400" dirty="0"/>
              <a:t>• Joint Distribution Equation:</a:t>
            </a:r>
            <a:br>
              <a:rPr sz="1400" dirty="0"/>
            </a:br>
            <a:r>
              <a:rPr sz="1400" dirty="0"/>
              <a:t>  P(X_1, ..., </a:t>
            </a:r>
            <a:r>
              <a:rPr sz="1400" dirty="0" err="1"/>
              <a:t>X_n</a:t>
            </a:r>
            <a:r>
              <a:rPr sz="1400" dirty="0"/>
              <a:t>) = ∏ P(</a:t>
            </a:r>
            <a:r>
              <a:rPr sz="1400" dirty="0" err="1"/>
              <a:t>X_i</a:t>
            </a:r>
            <a:r>
              <a:rPr sz="1400" dirty="0"/>
              <a:t> | Parents(</a:t>
            </a:r>
            <a:r>
              <a:rPr sz="1400" dirty="0" err="1"/>
              <a:t>X_i</a:t>
            </a:r>
            <a:r>
              <a:rPr sz="1400" dirty="0"/>
              <a:t>))</a:t>
            </a:r>
            <a:br>
              <a:rPr sz="1400" dirty="0"/>
            </a:br>
            <a:r>
              <a:rPr sz="1400" dirty="0"/>
              <a:t>  </a:t>
            </a:r>
            <a:br>
              <a:rPr sz="1400" dirty="0"/>
            </a:br>
            <a:br>
              <a:rPr sz="1400" dirty="0"/>
            </a:br>
            <a:r>
              <a:rPr sz="1400" dirty="0"/>
              <a:t>• </a:t>
            </a:r>
            <a:r>
              <a:rPr lang="en-US" sz="1400" dirty="0"/>
              <a:t>Each node has a conditional probability distribution given its parent nodes.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</a:t>
            </a:r>
            <a:r>
              <a:rPr lang="en-US" sz="1400" dirty="0"/>
              <a:t>Parameters are learned using Bayesian estimation with a Dirichlet prior.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endParaRPr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8076895" y="16586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Uncertainty Mechanics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Sources of Uncertainty:</a:t>
            </a:r>
            <a:endParaRPr lang="en-IN" sz="1400" dirty="0"/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Unpredictable rainfall, </a:t>
            </a:r>
            <a:r>
              <a:rPr lang="en-US" sz="1400" dirty="0" err="1">
                <a:solidFill>
                  <a:srgbClr val="2C3E50"/>
                </a:solidFill>
                <a:latin typeface="Arial"/>
              </a:rPr>
              <a:t>temparature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 fluctuations and crop label data.</a:t>
            </a:r>
            <a:br>
              <a:rPr sz="1400" dirty="0"/>
            </a:br>
            <a:r>
              <a:rPr sz="1400" dirty="0"/>
              <a:t>• Modeling Rationale</a:t>
            </a:r>
            <a:r>
              <a:rPr lang="en-IN" sz="1400" dirty="0"/>
              <a:t>: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Traditional deterministic models may produce fixed predictions without adequately representing uncertainty.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Expected Output:</a:t>
            </a:r>
            <a:r>
              <a:rPr lang="en-IN" sz="1400" dirty="0"/>
              <a:t>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Generate a posterior probability distribution  under observed environmental conditions,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5480" y="50292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3. Inference &amp; Decision Engine Mechanics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4 of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223520" y="1610360"/>
                <a:ext cx="5588000" cy="479044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2E8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74320" tIns="274320" rIns="274320" bIns="274320" rtlCol="0" anchor="ctr"/>
              <a:lstStyle/>
              <a:p>
                <a:pPr algn="ctr">
                  <a:spcAft>
                    <a:spcPts val="1000"/>
                  </a:spcAft>
                  <a:defRPr sz="1800" b="1">
                    <a:solidFill>
                      <a:srgbClr val="1B2A4A"/>
                    </a:solidFill>
                    <a:latin typeface="Georgia"/>
                  </a:defRPr>
                </a:pPr>
                <a:r>
                  <a:rPr dirty="0"/>
                  <a:t>Inference Algorithm &amp; Mechanics</a:t>
                </a: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r>
                  <a:rPr dirty="0"/>
                  <a:t>• </a:t>
                </a:r>
                <a:r>
                  <a:rPr sz="1400" dirty="0"/>
                  <a:t>Inference Category</a:t>
                </a:r>
                <a:r>
                  <a:rPr lang="en-IN" sz="1400" dirty="0"/>
                  <a:t> </a:t>
                </a:r>
                <a:r>
                  <a:rPr sz="1400" dirty="0"/>
                  <a:t>:</a:t>
                </a:r>
                <a:r>
                  <a:rPr lang="en-IN" sz="1400" dirty="0"/>
                  <a:t> </a:t>
                </a: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The project uses probabilistic inference with a Discrete Bayesian Network (DBN in the general sense of a discrete-variable Bayesian network; not a dynamic Bayesian network) .The environmental variable includes (</a:t>
                </a:r>
                <a:r>
                  <a:rPr lang="en-US" sz="1400" dirty="0" err="1">
                    <a:solidFill>
                      <a:srgbClr val="2C3E50"/>
                    </a:solidFill>
                    <a:latin typeface="Arial"/>
                  </a:rPr>
                  <a:t>Nitrogen,phosphorus,potassium,soil</a:t>
                </a: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 </a:t>
                </a:r>
                <a:r>
                  <a:rPr lang="en-US" sz="1400" dirty="0" err="1">
                    <a:solidFill>
                      <a:srgbClr val="2C3E50"/>
                    </a:solidFill>
                    <a:latin typeface="Arial"/>
                  </a:rPr>
                  <a:t>ph,Humidity,Rainfall</a:t>
                </a: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)</a:t>
                </a: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endParaRPr lang="en-IN" sz="1400" dirty="0"/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Bayesian Network Structure Learning :</a:t>
                </a: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The notebook learns the network structure using the Hill Climbing search algorithm This identifies relationships between environmental variables and crop labels from the training data.</a:t>
                </a: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endParaRPr lang="en-US" sz="1400" dirty="0">
                  <a:solidFill>
                    <a:srgbClr val="2C3E50"/>
                  </a:solidFill>
                  <a:latin typeface="Arial"/>
                </a:endParaRP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Variable elimination Algorithm: Variable Elimination calculates the posterior distribution of the crop label given the available environmental evidence. The code uses: </a:t>
                </a: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1400" i="0" dirty="0">
                              <a:latin typeface="Cambria Math" panose="02040503050406030204" pitchFamily="18" charset="0"/>
                            </a:rPr>
                            <m:t>Crop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𝑝𝐻</m:t>
                          </m:r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1400" dirty="0">
                  <a:solidFill>
                    <a:srgbClr val="2C3E50"/>
                  </a:solidFill>
                  <a:latin typeface="Arial"/>
                </a:endParaRPr>
              </a:p>
              <a:p>
                <a:pPr>
                  <a:defRPr sz="1200">
                    <a:solidFill>
                      <a:srgbClr val="2C3E50"/>
                    </a:solidFill>
                    <a:latin typeface="Arial"/>
                  </a:defRPr>
                </a:pP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where (</a:t>
                </a:r>
                <a:r>
                  <a:rPr lang="en-US" sz="1400" dirty="0" err="1">
                    <a:solidFill>
                      <a:srgbClr val="2C3E50"/>
                    </a:solidFill>
                    <a:latin typeface="Arial"/>
                  </a:rPr>
                  <a:t>N,P,K,T,H,pH,R</a:t>
                </a:r>
                <a:r>
                  <a:rPr lang="en-US" sz="1400" dirty="0">
                    <a:solidFill>
                      <a:srgbClr val="2C3E50"/>
                    </a:solidFill>
                    <a:latin typeface="Arial"/>
                  </a:rPr>
                  <a:t>) represent the environmental variables.</a:t>
                </a:r>
                <a:endParaRPr sz="1400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1610360"/>
                <a:ext cx="5588000" cy="4790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E2E8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6380482" y="17653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Decision Analysis &amp; Interventional Scenarios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Model Evaluation : 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Accuracy: The proportion of test samples classified correctly.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Weighted F1-score: The F1-score averaged according to the number of samples in each class.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Confusion matrix: A visualization of correct and incorrect crop predictions.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Per-crop F1-score plot: A comparison of predictive performance across crop classes.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2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345" y="584200"/>
            <a:ext cx="10728655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4. System Architecture, Computational Tools &amp; AI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63066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Software </a:t>
            </a:r>
            <a:r>
              <a:rPr dirty="0" err="1"/>
              <a:t>Toolstack</a:t>
            </a:r>
            <a:r>
              <a:rPr dirty="0"/>
              <a:t> &amp; Implementation</a:t>
            </a:r>
            <a:endParaRPr lang="en-IN" b="1" dirty="0">
              <a:solidFill>
                <a:srgbClr val="1B2A4A"/>
              </a:solidFill>
              <a:latin typeface="Georgia"/>
            </a:endParaRP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sz="1600" b="1" dirty="0">
                <a:solidFill>
                  <a:srgbClr val="1B2A4A"/>
                </a:solidFill>
                <a:latin typeface="Georgia"/>
              </a:rPr>
              <a:t>Data Processing and Numerical Computation: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b="1" dirty="0">
                <a:solidFill>
                  <a:srgbClr val="1B2A4A"/>
                </a:solidFill>
                <a:latin typeface="Georgia"/>
              </a:rPr>
              <a:t>Pandas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b="1" dirty="0">
                <a:solidFill>
                  <a:srgbClr val="1B2A4A"/>
                </a:solidFill>
                <a:latin typeface="Georgia"/>
              </a:rPr>
              <a:t>NumPy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b="1" dirty="0">
                <a:solidFill>
                  <a:srgbClr val="1B2A4A"/>
                </a:solidFill>
                <a:latin typeface="Georgia"/>
              </a:rPr>
              <a:t>CSV dataset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b="1" dirty="0">
                <a:solidFill>
                  <a:srgbClr val="1B2A4A"/>
                </a:solidFill>
                <a:latin typeface="Georgia"/>
              </a:rPr>
              <a:t>Matplotlib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b="1" dirty="0">
                <a:solidFill>
                  <a:srgbClr val="1B2A4A"/>
                </a:solidFill>
                <a:latin typeface="Georgia"/>
              </a:rPr>
              <a:t>Seaborn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b="1" dirty="0">
                <a:solidFill>
                  <a:srgbClr val="1B2A4A"/>
                </a:solidFill>
                <a:latin typeface="Georgia"/>
              </a:rPr>
              <a:t>scikit-learn metric</a:t>
            </a:r>
            <a:endParaRPr lang="en-US" sz="1400" b="1" dirty="0">
              <a:solidFill>
                <a:srgbClr val="1B2A4A"/>
              </a:solidFill>
              <a:latin typeface="Georgia"/>
            </a:endParaRP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endParaRPr lang="en-US" sz="1400" b="1" dirty="0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dirty="0"/>
              <a:t>Combining PGMs with Modern AI / ML</a:t>
            </a:r>
          </a:p>
          <a:p>
            <a:pPr marL="342900" indent="-342900" algn="ctr">
              <a:spcAft>
                <a:spcPts val="1000"/>
              </a:spcAft>
              <a:buAutoNum type="arabicPeriod"/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sz="1400" b="1" dirty="0">
                <a:solidFill>
                  <a:srgbClr val="1B2A4A"/>
                </a:solidFill>
                <a:latin typeface="Georgia"/>
              </a:rPr>
              <a:t>probabilistic predictions: Provides probabilities for crop classes rather than only a single predicted label</a:t>
            </a:r>
            <a:r>
              <a:rPr lang="en-US" b="1" dirty="0">
                <a:solidFill>
                  <a:srgbClr val="1B2A4A"/>
                </a:solidFill>
                <a:latin typeface="Georgia"/>
              </a:rPr>
              <a:t>.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sz="1400" b="1" dirty="0">
                <a:solidFill>
                  <a:srgbClr val="1B2A4A"/>
                </a:solidFill>
                <a:latin typeface="Georgia"/>
              </a:rPr>
              <a:t>     2. Learned dependencies: Discovers network relationships from training data.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sz="1400" b="1" dirty="0">
                <a:solidFill>
                  <a:srgbClr val="1B2A4A"/>
                </a:solidFill>
                <a:latin typeface="Georgia"/>
              </a:rPr>
              <a:t>3. Model evaluation: Uses established classification metrics to assess predictive performance</a:t>
            </a:r>
            <a:r>
              <a:rPr lang="en-US" b="1" dirty="0">
                <a:solidFill>
                  <a:srgbClr val="1B2A4A"/>
                </a:solidFill>
                <a:latin typeface="Georgia"/>
              </a:rPr>
              <a:t>.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lang="en-US" sz="1400" b="1" dirty="0">
                <a:solidFill>
                  <a:srgbClr val="1B2A4A"/>
                </a:solidFill>
                <a:latin typeface="Georgia"/>
              </a:rPr>
              <a:t>4. Interpretability: Exposes the network structure, posterior probabilities, and feature-sensitivity results.</a:t>
            </a:r>
          </a:p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7045" y="627370"/>
            <a:ext cx="10728655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rPr dirty="0"/>
              <a:t>5. Core Artifact Demonstration &amp; Performance Visuals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7040" y="1658620"/>
            <a:ext cx="6858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Primary Visual Evidence / Demonstration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The project visualizes the learned Bayesian Network using </a:t>
            </a:r>
            <a:r>
              <a:rPr lang="en-US" sz="1400" dirty="0" err="1">
                <a:solidFill>
                  <a:srgbClr val="2C3E50"/>
                </a:solidFill>
                <a:latin typeface="Arial"/>
              </a:rPr>
              <a:t>NetworkX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 and Matplotlib. The graph displays environmental variables such as nitrogen, phosphorus, potassium, temperature, humidity, soil pH, and rainfall, along with the crop label.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The Bayesian inference engine calculates posterior probabilities for different crop classes based on the supplied environmental evidence.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A bar chart titled “Effect of Rainfall Scenarios on Crop Probability” displays the posterior probabilities of </a:t>
            </a:r>
            <a:r>
              <a:rPr lang="en-US" sz="1400" dirty="0" err="1">
                <a:solidFill>
                  <a:srgbClr val="2C3E50"/>
                </a:solidFill>
                <a:latin typeface="Arial"/>
              </a:rPr>
              <a:t>pigeonpeas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 and </a:t>
            </a:r>
            <a:r>
              <a:rPr lang="en-US" sz="1400" dirty="0" err="1">
                <a:solidFill>
                  <a:srgbClr val="2C3E50"/>
                </a:solidFill>
                <a:latin typeface="Arial"/>
              </a:rPr>
              <a:t>blackgram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 across the three rainfall conditions.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7894015" y="1489166"/>
            <a:ext cx="3566160" cy="505387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Key Metrics &amp; Insights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sz="1400" dirty="0"/>
              <a:t>• </a:t>
            </a:r>
            <a:r>
              <a:rPr lang="en-IN" sz="1400" dirty="0"/>
              <a:t>Prediction outcome:</a:t>
            </a:r>
            <a:r>
              <a:rPr lang="en-US" sz="1100" dirty="0">
                <a:solidFill>
                  <a:srgbClr val="2C3E50"/>
                </a:solidFill>
                <a:latin typeface="Arial"/>
              </a:rPr>
              <a:t>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Evaluate the model using accuracy,F1-score,  when labelled crop label data is </a:t>
            </a:r>
            <a:r>
              <a:rPr lang="en-US" sz="1400" dirty="0" err="1">
                <a:solidFill>
                  <a:srgbClr val="2C3E50"/>
                </a:solidFill>
                <a:latin typeface="Arial"/>
              </a:rPr>
              <a:t>available.Test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 samples=440 , - Accuracy: 75.68%- Macro F1-score: 0.73- Weighted F1-score: 0.73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br>
              <a:rPr lang="en-US" sz="1400" dirty="0"/>
            </a:br>
            <a:br>
              <a:rPr sz="1400" dirty="0"/>
            </a:br>
            <a:r>
              <a:rPr sz="1400" dirty="0"/>
              <a:t>•</a:t>
            </a:r>
            <a:r>
              <a:rPr lang="en-IN" sz="1400" dirty="0"/>
              <a:t> </a:t>
            </a:r>
            <a:r>
              <a:rPr lang="en-US" sz="1400" dirty="0"/>
              <a:t>Normalized entropy: Low = 0.5858, Medium = 0.6682, High = 0.4407.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endParaRPr lang="en-US" sz="1400" dirty="0"/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r>
              <a:rPr lang="en-US" sz="1400" dirty="0"/>
              <a:t>Feature sensitivity measures changes in crop probability distributions under different feature states.</a:t>
            </a:r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endParaRPr lang="en-US" sz="1400" dirty="0"/>
          </a:p>
          <a:p>
            <a:pPr>
              <a:defRPr sz="1100">
                <a:solidFill>
                  <a:srgbClr val="2C3E50"/>
                </a:solidFill>
                <a:latin typeface="Arial"/>
              </a:defRPr>
            </a:pP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6. Verification, Experimental Validation &amp; Progress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Verification &amp; Validation Methodology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IN" sz="1400" dirty="0"/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sz="1400" dirty="0"/>
              <a:t>• Track II Validation:</a:t>
            </a:r>
            <a:r>
              <a:rPr sz="1600" dirty="0"/>
              <a:t> </a:t>
            </a:r>
            <a:r>
              <a:rPr lang="en-US" sz="1600" dirty="0"/>
              <a:t>a stratified 80/20 train-test split, test-set classification metrics, confusion matrix and scenario-based probability analysis.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Progress vs Objectives &amp; Timeline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Achievement Matrix against Objectives (from Slide 2):</a:t>
            </a:r>
            <a:br>
              <a:rPr sz="1400" dirty="0"/>
            </a:br>
            <a:r>
              <a:rPr sz="1400" dirty="0"/>
              <a:t>  - Obj 1 (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Bayesian Network Modeling</a:t>
            </a:r>
            <a:r>
              <a:rPr sz="1400" dirty="0"/>
              <a:t>): [</a:t>
            </a:r>
            <a:r>
              <a:rPr lang="en-IN" sz="1400" dirty="0"/>
              <a:t>implemented</a:t>
            </a:r>
            <a:r>
              <a:rPr sz="1400" dirty="0"/>
              <a:t>]</a:t>
            </a:r>
            <a:br>
              <a:rPr sz="1400" dirty="0"/>
            </a:br>
            <a:r>
              <a:rPr sz="1400" dirty="0"/>
              <a:t>  - Obj 2 (Inference Engine): [ </a:t>
            </a:r>
            <a:r>
              <a:rPr lang="en-IN" sz="1400" dirty="0"/>
              <a:t>implemented</a:t>
            </a:r>
            <a:r>
              <a:rPr sz="1400" dirty="0"/>
              <a:t>]</a:t>
            </a:r>
            <a:br>
              <a:rPr sz="1400" dirty="0"/>
            </a:br>
            <a:r>
              <a:rPr sz="1400" dirty="0"/>
              <a:t>  - Obj 3 (Implementation): [Completed]</a:t>
            </a:r>
            <a:br>
              <a:rPr sz="1400" dirty="0"/>
            </a:br>
            <a:r>
              <a:rPr sz="1400" dirty="0"/>
              <a:t>  - Obj 4 (Validation/Paper): [</a:t>
            </a:r>
            <a:r>
              <a:rPr lang="en-IN" sz="1400" dirty="0"/>
              <a:t>Under implementation</a:t>
            </a:r>
            <a:r>
              <a:rPr sz="1400" dirty="0"/>
              <a:t>]</a:t>
            </a:r>
            <a:br>
              <a:rPr sz="1400" dirty="0"/>
            </a:br>
            <a:br>
              <a:rPr sz="1400" dirty="0"/>
            </a:br>
            <a:endParaRPr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DESIGNATED CREDIT ALLOCATION SLIDE — 2.0 MARKS OUT OF 10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7. Final Track Deliverable &amp; Assessment Proof (Slide 8)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TRACK SELECTION DECLARATION (CHECK ONE):</a:t>
            </a:r>
          </a:p>
          <a:p>
            <a:pPr algn="ctr">
              <a:defRPr sz="1500" b="1">
                <a:solidFill>
                  <a:srgbClr val="D97706"/>
                </a:solidFill>
                <a:latin typeface="Georgia"/>
              </a:defRPr>
            </a:pPr>
            <a:r>
              <a:t>[  ] TRACK I: INDUSTRY PRODUCT &amp; VERIFICATION      |      [  ] TRACK II: JOURNAL / CONFERENCE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920" y="265176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TRACK I: INDUSTRY PRODUCT PROO</a:t>
            </a:r>
            <a:r>
              <a:rPr lang="en-US" dirty="0"/>
              <a:t>F</a:t>
            </a:r>
            <a:endParaRPr lang="en-IN" dirty="0"/>
          </a:p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br>
              <a:rPr lang="en-US" dirty="0"/>
            </a:br>
            <a:r>
              <a:rPr lang="en-IN" dirty="0"/>
              <a:t>• Proof 1</a:t>
            </a:r>
            <a:r>
              <a:rPr lang="en-US" dirty="0"/>
              <a:t>: </a:t>
            </a:r>
            <a:r>
              <a:rPr lang="en-US" sz="1600" b="1" dirty="0">
                <a:solidFill>
                  <a:srgbClr val="1B2A4A"/>
                </a:solidFill>
                <a:latin typeface="Georgia"/>
              </a:rPr>
              <a:t>Demonstrate the user interface where users enter environmental parameters and select a crop. 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br>
              <a:rPr lang="en-US" dirty="0"/>
            </a:br>
            <a:r>
              <a:rPr lang="en-US" sz="1600" b="1" dirty="0">
                <a:solidFill>
                  <a:srgbClr val="1B2A4A"/>
                </a:solidFill>
                <a:latin typeface="Georgia"/>
              </a:rPr>
              <a:t>Explainability Visualization: Show how changes in rainfall, temperature, or soil moisture influence the final crop risk prediction.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095847" y="269240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TRACK II: PUBLICATION PAPER PROOF</a:t>
            </a:r>
            <a:endParaRPr lang="en-IN" dirty="0"/>
          </a:p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br>
              <a:rPr dirty="0"/>
            </a:br>
            <a:r>
              <a:rPr dirty="0"/>
              <a:t>• Proof 2: </a:t>
            </a:r>
            <a:r>
              <a:rPr lang="en-US" sz="1600" b="1" dirty="0">
                <a:solidFill>
                  <a:srgbClr val="1B2A4A"/>
                </a:solidFill>
                <a:latin typeface="Georgia"/>
              </a:rPr>
              <a:t>Display Bayesian Network graphs showing the relationships between environmental factors, crop stress, pest risk, and crop damage probability.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r>
              <a:rPr dirty="0"/>
              <a:t>.</a:t>
            </a:r>
            <a:br>
              <a:rPr dirty="0"/>
            </a:br>
            <a:r>
              <a:rPr lang="en-US" sz="1600" b="1" dirty="0">
                <a:solidFill>
                  <a:srgbClr val="1B2A4A"/>
                </a:solidFill>
                <a:latin typeface="Georgia"/>
              </a:rPr>
              <a:t>Prediction Output: Present the predicted crop risk probability using a risk score, probability chart, or color-coded dashboard.</a:t>
            </a:r>
          </a:p>
          <a:p>
            <a:pPr algn="ctr">
              <a:spcAft>
                <a:spcPts val="800"/>
              </a:spcAft>
              <a:defRPr sz="1600" b="1">
                <a:solidFill>
                  <a:srgbClr val="1B2A4A"/>
                </a:solidFill>
                <a:latin typeface="Georgia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8. Conclusion, Repository Deliverables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880" y="16332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Key Technical Contributions &amp; Summary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sz="1400" dirty="0"/>
              <a:t>Summary of Work Completed: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 Development of an Explainable Bayesian Network framework to assess crop recommendation under uncertain environmental conditions. The system models relationships between rainfall, temperature, humidity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Primary Technical Deliverables:</a:t>
            </a:r>
            <a:endParaRPr lang="en-IN" sz="1400" dirty="0"/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sz="1400" dirty="0"/>
              <a:t> -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Construction of a Bayesian Network representing environmental factors and crop risk.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IN" sz="1400" dirty="0"/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IN" sz="1400" dirty="0"/>
              <a:t>- Implemented a Bayesian Network for probabilistic crop recommendation, with learned dependencies, posterior crop probabilities, rainfall scenario analysis and environmental-feature sensitivity analysis.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Repository Status &amp; Future Scope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• Future Scope &amp; Scaling Extensions:</a:t>
            </a:r>
            <a:endParaRPr lang="en-IN" sz="1400" dirty="0"/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br>
              <a:rPr sz="1400" dirty="0"/>
            </a:br>
            <a:r>
              <a:rPr sz="1400" dirty="0"/>
              <a:t>  -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Integration of Real-Time Weather Data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200" dirty="0">
                <a:solidFill>
                  <a:srgbClr val="2C3E50"/>
                </a:solidFill>
                <a:latin typeface="Arial"/>
              </a:rPr>
              <a:t>  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- </a:t>
            </a:r>
            <a:r>
              <a:rPr lang="en-US" sz="1400" dirty="0"/>
              <a:t>Incorporate observed crop-failure and yield-loss data for direct risk estimation.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   -Integration with Modern Machine Learning Models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   - Improved Explainability and Causal Analysis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22AIE301 PROBABILISTIC REASONING — FINAL PROJECT REVIEW</a:t>
            </a:r>
          </a:p>
          <a:p>
            <a:pPr>
              <a:defRPr sz="2400" b="1">
                <a:solidFill>
                  <a:srgbClr val="1B2A4A"/>
                </a:solidFill>
                <a:latin typeface="Georgia"/>
              </a:defRPr>
            </a:pPr>
            <a:r>
              <a:t>9. Digitally Verifiable Literature &amp; Software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22AIE301 Course Project Final Review Template  | 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470" y="1760542"/>
            <a:ext cx="1072865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B2A4A"/>
                </a:solidFill>
                <a:latin typeface="Georgia"/>
              </a:defRPr>
            </a:pPr>
            <a:r>
              <a:rPr dirty="0"/>
              <a:t>Academic &amp; Technical Citations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1.Predicting rice crop yield using Bayesian networks , Author: Niketa Gandhi, Leisa J. Armstrong, Owaiz Petkar - [2016]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2.A Bayesian network for predicting yield response of winter wheat ,Author : 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F. Tari – [1996]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2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200" dirty="0">
                <a:solidFill>
                  <a:srgbClr val="2C3E50"/>
                </a:solidFill>
                <a:latin typeface="Arial"/>
              </a:rPr>
              <a:t>3.Embedding expert opinion in a Bayesian network model to predict wheat yield from spring </a:t>
            </a:r>
            <a:r>
              <a:rPr lang="en-US" sz="1200" dirty="0" err="1">
                <a:solidFill>
                  <a:srgbClr val="2C3E50"/>
                </a:solidFill>
                <a:latin typeface="Arial"/>
              </a:rPr>
              <a:t>wheather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 , Author : </a:t>
            </a:r>
            <a:r>
              <a:rPr lang="en-US" sz="1400" dirty="0">
                <a:solidFill>
                  <a:srgbClr val="2C3E50"/>
                </a:solidFill>
                <a:latin typeface="Arial"/>
              </a:rPr>
              <a:t>Niketa Gandhi, Leisa J. Armstrong, Owaiz Petkar – [2023]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4.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 Corn yield prediction and uncertainty analysis based on remotely sensed variables using a Bayesian neural network approach , Author - Yuchi Ma, Zhou Zhang, </a:t>
            </a:r>
            <a:r>
              <a:rPr lang="en-US" sz="1200" dirty="0" err="1">
                <a:solidFill>
                  <a:srgbClr val="2C3E50"/>
                </a:solidFill>
                <a:latin typeface="Arial"/>
              </a:rPr>
              <a:t>Yanghui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 Kang, Mutlu Özdoğan – [2021]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2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200" dirty="0">
                <a:solidFill>
                  <a:srgbClr val="2C3E50"/>
                </a:solidFill>
                <a:latin typeface="Arial"/>
              </a:rPr>
              <a:t>5. Crop yield prediction via explainable AI and interpretable machine learning: Dangers of black box models for evaluating climate change impacts on crop yield  Author-name - Zhou Zhang, </a:t>
            </a:r>
            <a:r>
              <a:rPr lang="en-US" sz="1200" dirty="0" err="1">
                <a:solidFill>
                  <a:srgbClr val="2C3E50"/>
                </a:solidFill>
                <a:latin typeface="Arial"/>
              </a:rPr>
              <a:t>Yanghui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 Kang - [2023]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400" dirty="0">
                <a:solidFill>
                  <a:srgbClr val="2C3E50"/>
                </a:solidFill>
                <a:latin typeface="Arial"/>
              </a:rPr>
              <a:t>6.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 Bayesian Multi-modeling of Deep Neural Nets for Probabilistic Crop Yield Prediction M. </a:t>
            </a:r>
            <a:r>
              <a:rPr lang="en-US" sz="1200" dirty="0" err="1">
                <a:solidFill>
                  <a:srgbClr val="2C3E50"/>
                </a:solidFill>
                <a:latin typeface="Arial"/>
              </a:rPr>
              <a:t>Yeasin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, K. N. Singh, A. Lama, B. Gurung – [2021]</a:t>
            </a: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lang="en-US" sz="12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r>
              <a:rPr lang="en-US" sz="1200" dirty="0">
                <a:solidFill>
                  <a:srgbClr val="2C3E50"/>
                </a:solidFill>
                <a:latin typeface="Arial"/>
              </a:rPr>
              <a:t>7. Modelling faba bean production in an uncertain future climate Author - M. </a:t>
            </a:r>
            <a:r>
              <a:rPr lang="en-US" sz="1200" dirty="0" err="1">
                <a:solidFill>
                  <a:srgbClr val="2C3E50"/>
                </a:solidFill>
                <a:latin typeface="Arial"/>
              </a:rPr>
              <a:t>Yeasin</a:t>
            </a:r>
            <a:r>
              <a:rPr lang="en-US" sz="1200" dirty="0">
                <a:solidFill>
                  <a:srgbClr val="2C3E50"/>
                </a:solidFill>
                <a:latin typeface="Arial"/>
              </a:rPr>
              <a:t>, K. N. Singh, A. Lama, B. Gurung – [2022]</a:t>
            </a:r>
            <a:endParaRPr lang="en-US" sz="1400" dirty="0">
              <a:solidFill>
                <a:srgbClr val="2C3E50"/>
              </a:solidFill>
              <a:latin typeface="Arial"/>
            </a:endParaRPr>
          </a:p>
          <a:p>
            <a:pPr>
              <a:defRPr sz="1200">
                <a:solidFill>
                  <a:srgbClr val="2C3E50"/>
                </a:solidFill>
                <a:latin typeface="Arial"/>
              </a:defRPr>
            </a:pP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05d83ceaa0bbd2e3bc716e6e66bd857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d69fe45253d5ff147bb69036b756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151DA3-20A4-496B-89F8-E813D9FA3BFF}">
  <ds:schemaRefs>
    <ds:schemaRef ds:uri="http://purl.org/dc/elements/1.1/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E10944C-BA5E-442C-BAF4-7425112134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FCB3382-8628-4069-816F-100E7A7242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1178</Words>
  <Application>Microsoft Office PowerPoint</Application>
  <PresentationFormat>Widescreen</PresentationFormat>
  <Paragraphs>140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Cibi Kumar</dc:creator>
  <cp:keywords/>
  <dc:description>generated using python-pptx</dc:description>
  <cp:lastModifiedBy>DELL</cp:lastModifiedBy>
  <cp:revision>14</cp:revision>
  <dcterms:created xsi:type="dcterms:W3CDTF">2013-01-27T09:14:16Z</dcterms:created>
  <dcterms:modified xsi:type="dcterms:W3CDTF">2026-10-15T17:37:38Z</dcterms:modified>
  <cp:category/>
</cp:coreProperties>
</file>